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_01_rId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6873"/>
            <a:ext cx="960120" cy="9493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83080" y="502920"/>
            <a:ext cx="6035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475569"/>
                </a:solidFill>
                <a:latin typeface="Arial"/>
              </a:rPr>
              <a:t>ĐẠI HỌC ĐÀ NẴNG - TRƯỜNG ĐẠI HỌC BÁCH KHOA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80467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475569"/>
                </a:solidFill>
                <a:latin typeface="Arial"/>
              </a:rPr>
              <a:t>KHOA CÔNG NGHỆ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789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475569"/>
                </a:solidFill>
                <a:latin typeface="Arial"/>
              </a:rPr>
              <a:t>BÁO CÁO MÔN HỌC XỬ LÝ NGÔN NGỮ TỰ NHIÊN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95728"/>
            <a:ext cx="104698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Arial"/>
              </a:rPr>
              <a:t>HỆ THỐNG GỢI Ý PHIM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1046988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Arial"/>
              </a:rPr>
              <a:t>SỬ DỤNG MÔ HÌNH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3931920"/>
            <a:ext cx="4617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34440" y="3931920"/>
            <a:ext cx="64008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99032" y="4059935"/>
            <a:ext cx="432511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Thành viên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475569"/>
                </a:solidFill>
                <a:latin typeface="Arial"/>
              </a:rPr>
              <a:t>Trần Minh Vũ - 102220176 - 22Nh10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>
                <a:solidFill>
                  <a:srgbClr val="475569"/>
                </a:solidFill>
                <a:latin typeface="Arial"/>
              </a:rPr>
              <a:t>Tôn Thất Bảo Văn - 102220175 - 22Nh10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931920"/>
            <a:ext cx="4617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393192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4059935"/>
            <a:ext cx="432511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Giảng viên hướng dẫn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75569"/>
                </a:solidFill>
                <a:latin typeface="Arial"/>
              </a:rPr>
              <a:t>TS Nguyễn Văn Hiệu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10469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rial"/>
              </a:rPr>
              <a:t>Đà Nẵng, 05/2026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46520"/>
            <a:ext cx="594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Tóm Tắt Hệ Thống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4300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8138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100" b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16276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545336"/>
            <a:ext cx="3108960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Dữ liệu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IMDb 2024 từ Kaggle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3 file CSV thô; 4.573 bản ghi ban đầu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Các trường chính: Title, rating, Year, Director, Star Cast, Genres, Duration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41732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16552" y="1417320"/>
            <a:ext cx="64008" cy="16276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81144" y="1545336"/>
            <a:ext cx="3108960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Tiền xử lý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Gộp dữ liệu, bỏ trùng theo Title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Xử lý giá trị thiếu; chuẩn hóa thể loại và diễn viên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Sinh mô tả phim từ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38744" y="141732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38744" y="1417320"/>
            <a:ext cx="64008" cy="16276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03336" y="1545336"/>
            <a:ext cx="3108960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Chunking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Một phim = một chunk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3.656 chunk sau xử lý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Mỗi chunk giữ mô tả đầy đủ và metadata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6616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3566160"/>
            <a:ext cx="64008" cy="16276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3694176"/>
            <a:ext cx="3108960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Vector database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Embedding all-mpnet-base-v2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Vector 768 chiều; cosine space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Lưu document, embedding, metadata và id trong ChromaDB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356616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16552" y="3566160"/>
            <a:ext cx="64008" cy="16276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81144" y="3694176"/>
            <a:ext cx="3108960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 dirty="0">
                <a:solidFill>
                  <a:srgbClr val="111827"/>
                </a:solidFill>
                <a:latin typeface="Arial"/>
              </a:rPr>
              <a:t>RAG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 dirty="0">
                <a:solidFill>
                  <a:srgbClr val="475569"/>
                </a:solidFill>
                <a:latin typeface="Arial"/>
              </a:rPr>
              <a:t>Query Structurer </a:t>
            </a:r>
            <a:r>
              <a:rPr sz="1040" dirty="0" err="1">
                <a:solidFill>
                  <a:srgbClr val="475569"/>
                </a:solidFill>
                <a:latin typeface="Arial"/>
              </a:rPr>
              <a:t>tạo</a:t>
            </a:r>
            <a:r>
              <a:rPr sz="1040" dirty="0">
                <a:solidFill>
                  <a:srgbClr val="475569"/>
                </a:solidFill>
                <a:latin typeface="Arial"/>
              </a:rPr>
              <a:t> </a:t>
            </a:r>
            <a:r>
              <a:rPr sz="1040" dirty="0" err="1">
                <a:solidFill>
                  <a:srgbClr val="475569"/>
                </a:solidFill>
                <a:latin typeface="Arial"/>
              </a:rPr>
              <a:t>semantic_query</a:t>
            </a:r>
            <a:r>
              <a:rPr sz="1040" dirty="0">
                <a:solidFill>
                  <a:srgbClr val="475569"/>
                </a:solidFill>
                <a:latin typeface="Arial"/>
              </a:rPr>
              <a:t> </a:t>
            </a:r>
            <a:r>
              <a:rPr sz="1040" dirty="0" err="1">
                <a:solidFill>
                  <a:srgbClr val="475569"/>
                </a:solidFill>
                <a:latin typeface="Arial"/>
              </a:rPr>
              <a:t>và</a:t>
            </a:r>
            <a:r>
              <a:rPr sz="1040" dirty="0">
                <a:solidFill>
                  <a:srgbClr val="475569"/>
                </a:solidFill>
                <a:latin typeface="Arial"/>
              </a:rPr>
              <a:t> </a:t>
            </a:r>
            <a:r>
              <a:rPr sz="1040" dirty="0" err="1">
                <a:solidFill>
                  <a:srgbClr val="475569"/>
                </a:solidFill>
                <a:latin typeface="Arial"/>
              </a:rPr>
              <a:t>metadata_filter</a:t>
            </a:r>
            <a:endParaRPr sz="1040" dirty="0">
              <a:solidFill>
                <a:srgbClr val="475569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 dirty="0">
                <a:solidFill>
                  <a:srgbClr val="475569"/>
                </a:solidFill>
                <a:latin typeface="Arial"/>
              </a:rPr>
              <a:t>Filtered vector search, fallback, cross-encoder </a:t>
            </a:r>
            <a:r>
              <a:rPr sz="1040" dirty="0" err="1">
                <a:solidFill>
                  <a:srgbClr val="475569"/>
                </a:solidFill>
                <a:latin typeface="Arial"/>
              </a:rPr>
              <a:t>rerank</a:t>
            </a:r>
            <a:endParaRPr sz="1040" dirty="0">
              <a:solidFill>
                <a:srgbClr val="475569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 dirty="0">
                <a:solidFill>
                  <a:srgbClr val="475569"/>
                </a:solidFill>
                <a:latin typeface="Arial"/>
              </a:rPr>
              <a:t>Qwen 2.5 7B Instruct </a:t>
            </a:r>
            <a:r>
              <a:rPr sz="1040" dirty="0" err="1">
                <a:solidFill>
                  <a:srgbClr val="475569"/>
                </a:solidFill>
                <a:latin typeface="Arial"/>
              </a:rPr>
              <a:t>sinh</a:t>
            </a:r>
            <a:r>
              <a:rPr sz="1040" dirty="0">
                <a:solidFill>
                  <a:srgbClr val="475569"/>
                </a:solidFill>
                <a:latin typeface="Arial"/>
              </a:rPr>
              <a:t> </a:t>
            </a:r>
            <a:r>
              <a:rPr sz="1040" dirty="0" err="1">
                <a:solidFill>
                  <a:srgbClr val="475569"/>
                </a:solidFill>
                <a:latin typeface="Arial"/>
              </a:rPr>
              <a:t>câu</a:t>
            </a:r>
            <a:r>
              <a:rPr sz="1040" dirty="0">
                <a:solidFill>
                  <a:srgbClr val="475569"/>
                </a:solidFill>
                <a:latin typeface="Arial"/>
              </a:rPr>
              <a:t> </a:t>
            </a:r>
            <a:r>
              <a:rPr sz="1040" dirty="0" err="1">
                <a:solidFill>
                  <a:srgbClr val="475569"/>
                </a:solidFill>
                <a:latin typeface="Arial"/>
              </a:rPr>
              <a:t>trả</a:t>
            </a:r>
            <a:r>
              <a:rPr sz="1040" dirty="0">
                <a:solidFill>
                  <a:srgbClr val="475569"/>
                </a:solidFill>
                <a:latin typeface="Arial"/>
              </a:rPr>
              <a:t> </a:t>
            </a:r>
            <a:r>
              <a:rPr sz="1040" dirty="0" err="1">
                <a:solidFill>
                  <a:srgbClr val="475569"/>
                </a:solidFill>
                <a:latin typeface="Arial"/>
              </a:rPr>
              <a:t>lời</a:t>
            </a:r>
            <a:r>
              <a:rPr sz="1040" dirty="0">
                <a:solidFill>
                  <a:srgbClr val="475569"/>
                </a:solidFill>
                <a:latin typeface="Arial"/>
              </a:rPr>
              <a:t> qua LM Studio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38744" y="356616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38744" y="3566160"/>
            <a:ext cx="64008" cy="16276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03336" y="3694176"/>
            <a:ext cx="3108960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Đánh giá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14 case; pass 9, fail 5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RAG score 83,8%; pass rate 64,3%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40">
                <a:solidFill>
                  <a:srgbClr val="475569"/>
                </a:solidFill>
                <a:latin typeface="Arial"/>
              </a:rPr>
              <a:t>hallucination_rate 21,4%; wrong_context_rate 7,1%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46520"/>
            <a:ext cx="594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4300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8138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100" b="0" dirty="0">
              <a:solidFill>
                <a:srgbClr val="64748B"/>
              </a:solidFill>
              <a:latin typeface="Arial"/>
            </a:endParaRPr>
          </a:p>
        </p:txBody>
      </p:sp>
      <p:pic>
        <p:nvPicPr>
          <p:cNvPr id="5" name="Picture 4" descr="image_02_rId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555" y="1051560"/>
            <a:ext cx="4480609" cy="3063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26555" y="1051560"/>
            <a:ext cx="4480609" cy="3063240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7432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6400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362456"/>
            <a:ext cx="245059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 dirty="0" err="1">
                <a:solidFill>
                  <a:srgbClr val="111827"/>
                </a:solidFill>
                <a:latin typeface="Arial"/>
              </a:rPr>
              <a:t>Nguồn</a:t>
            </a:r>
            <a:endParaRPr sz="1500" b="1" dirty="0">
              <a:solidFill>
                <a:srgbClr val="111827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dirty="0">
                <a:solidFill>
                  <a:srgbClr val="475569"/>
                </a:solidFill>
                <a:latin typeface="Arial"/>
              </a:rPr>
              <a:t>Kaggle: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parthdande</a:t>
            </a:r>
            <a:r>
              <a:rPr sz="1100" dirty="0">
                <a:solidFill>
                  <a:srgbClr val="475569"/>
                </a:solidFill>
                <a:latin typeface="Arial"/>
              </a:rPr>
              <a:t>/imdb-dataset-2024-updated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endParaRPr sz="110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66160" y="1234440"/>
            <a:ext cx="25146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23444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0752" y="1362456"/>
            <a:ext cx="2221992" cy="7315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sz="1500" b="1" dirty="0">
                <a:solidFill>
                  <a:srgbClr val="111827"/>
                </a:solidFill>
                <a:latin typeface="Arial"/>
              </a:rPr>
              <a:t>Quy </a:t>
            </a:r>
            <a:r>
              <a:rPr sz="1500" b="1" dirty="0" err="1">
                <a:solidFill>
                  <a:srgbClr val="111827"/>
                </a:solidFill>
                <a:latin typeface="Arial"/>
              </a:rPr>
              <a:t>mô</a:t>
            </a:r>
            <a:r>
              <a:rPr sz="1500" b="1" dirty="0">
                <a:solidFill>
                  <a:srgbClr val="111827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</a:rPr>
              <a:t>thô</a:t>
            </a:r>
            <a:endParaRPr sz="1100" dirty="0">
              <a:solidFill>
                <a:srgbClr val="475569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dirty="0">
                <a:solidFill>
                  <a:srgbClr val="475569"/>
                </a:solidFill>
                <a:latin typeface="Arial"/>
              </a:rPr>
              <a:t>4.573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bản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ghi</a:t>
            </a:r>
            <a:r>
              <a:rPr sz="1100" dirty="0">
                <a:solidFill>
                  <a:srgbClr val="475569"/>
                </a:solidFill>
                <a:latin typeface="Arial"/>
              </a:rPr>
              <a:t> ban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đầu</a:t>
            </a:r>
            <a:endParaRPr sz="1100" dirty="0">
              <a:solidFill>
                <a:srgbClr val="475569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dirty="0">
                <a:solidFill>
                  <a:srgbClr val="475569"/>
                </a:solidFill>
                <a:latin typeface="Arial"/>
              </a:rPr>
              <a:t>12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trường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dữ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liệu</a:t>
            </a:r>
            <a:endParaRPr sz="110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2423160"/>
            <a:ext cx="54864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423160"/>
            <a:ext cx="64008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551176"/>
            <a:ext cx="5193792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 dirty="0" err="1">
                <a:solidFill>
                  <a:srgbClr val="111827"/>
                </a:solidFill>
                <a:latin typeface="Arial"/>
              </a:rPr>
              <a:t>Vấn</a:t>
            </a:r>
            <a:r>
              <a:rPr sz="1500" b="1" dirty="0">
                <a:solidFill>
                  <a:srgbClr val="111827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</a:rPr>
              <a:t>đề</a:t>
            </a:r>
            <a:r>
              <a:rPr sz="1500" b="1" dirty="0">
                <a:solidFill>
                  <a:srgbClr val="111827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</a:rPr>
              <a:t>dữ</a:t>
            </a:r>
            <a:r>
              <a:rPr sz="1500" b="1" dirty="0">
                <a:solidFill>
                  <a:srgbClr val="111827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</a:rPr>
              <a:t>liệu</a:t>
            </a:r>
            <a:endParaRPr sz="1500" b="1" dirty="0">
              <a:solidFill>
                <a:srgbClr val="111827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dirty="0">
                <a:solidFill>
                  <a:srgbClr val="475569"/>
                </a:solidFill>
                <a:latin typeface="Arial"/>
              </a:rPr>
              <a:t>917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bản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ghi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trùng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lặp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theo</a:t>
            </a:r>
            <a:r>
              <a:rPr sz="1100" dirty="0">
                <a:solidFill>
                  <a:srgbClr val="475569"/>
                </a:solidFill>
                <a:latin typeface="Arial"/>
              </a:rPr>
              <a:t> Title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dirty="0" err="1">
                <a:solidFill>
                  <a:srgbClr val="475569"/>
                </a:solidFill>
                <a:latin typeface="Arial"/>
              </a:rPr>
              <a:t>Tỉ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lệ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dữ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liệu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thiếu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trung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bình</a:t>
            </a:r>
            <a:r>
              <a:rPr sz="1100" dirty="0">
                <a:solidFill>
                  <a:srgbClr val="475569"/>
                </a:solidFill>
                <a:latin typeface="Arial"/>
              </a:rPr>
              <a:t>: 13,75%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endParaRPr sz="1100" dirty="0">
              <a:solidFill>
                <a:srgbClr val="475569"/>
              </a:solidFill>
              <a:latin typeface="Arial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3794760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11827"/>
                          </a:solidFill>
                          <a:latin typeface="Arial"/>
                        </a:rPr>
                        <a:t>Trường</a:t>
                      </a:r>
                    </a:p>
                  </a:txBody>
                  <a:tcPr>
                    <a:solidFill>
                      <a:srgbClr val="E5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 dirty="0">
                          <a:solidFill>
                            <a:srgbClr val="111827"/>
                          </a:solidFill>
                          <a:latin typeface="Arial"/>
                        </a:rPr>
                        <a:t>Vai </a:t>
                      </a:r>
                      <a:r>
                        <a:rPr sz="880" b="1" dirty="0" err="1">
                          <a:solidFill>
                            <a:srgbClr val="111827"/>
                          </a:solidFill>
                          <a:latin typeface="Arial"/>
                        </a:rPr>
                        <a:t>trò</a:t>
                      </a:r>
                      <a:endParaRPr sz="880" b="1" dirty="0">
                        <a:solidFill>
                          <a:srgbClr val="111827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E5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rial"/>
                        </a:rPr>
                        <a:t>Nhận diện và hiển thị phim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rial"/>
                        </a:rPr>
                        <a:t>IMDb Rating / MetaScore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rial"/>
                        </a:rPr>
                        <a:t>Bổ sung tín hiệu chất lượng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rial"/>
                        </a:rPr>
                        <a:t>Year /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rial"/>
                        </a:rPr>
                        <a:t>Ngữ cảnh thời gian và độ dài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rial"/>
                        </a:rPr>
                        <a:t>Director / Star 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rial"/>
                        </a:rPr>
                        <a:t>Hỗ trợ truy vấn theo đạo diễn, diễn viên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475569"/>
                          </a:solidFill>
                          <a:latin typeface="Arial"/>
                        </a:rPr>
                        <a:t>Genres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dirty="0" err="1">
                          <a:solidFill>
                            <a:srgbClr val="475569"/>
                          </a:solidFill>
                          <a:latin typeface="Arial"/>
                        </a:rPr>
                        <a:t>Đặc</a:t>
                      </a:r>
                      <a:r>
                        <a:rPr sz="880" dirty="0">
                          <a:solidFill>
                            <a:srgbClr val="475569"/>
                          </a:solidFill>
                          <a:latin typeface="Arial"/>
                        </a:rPr>
                        <a:t> </a:t>
                      </a:r>
                      <a:r>
                        <a:rPr sz="880" dirty="0" err="1">
                          <a:solidFill>
                            <a:srgbClr val="475569"/>
                          </a:solidFill>
                          <a:latin typeface="Arial"/>
                        </a:rPr>
                        <a:t>trưng</a:t>
                      </a:r>
                      <a:r>
                        <a:rPr sz="880" dirty="0">
                          <a:solidFill>
                            <a:srgbClr val="475569"/>
                          </a:solidFill>
                          <a:latin typeface="Arial"/>
                        </a:rPr>
                        <a:t> </a:t>
                      </a:r>
                      <a:r>
                        <a:rPr sz="880" dirty="0" err="1">
                          <a:solidFill>
                            <a:srgbClr val="475569"/>
                          </a:solidFill>
                          <a:latin typeface="Arial"/>
                        </a:rPr>
                        <a:t>nội</a:t>
                      </a:r>
                      <a:r>
                        <a:rPr sz="880" dirty="0">
                          <a:solidFill>
                            <a:srgbClr val="475569"/>
                          </a:solidFill>
                          <a:latin typeface="Arial"/>
                        </a:rPr>
                        <a:t> dung </a:t>
                      </a:r>
                      <a:r>
                        <a:rPr sz="880" dirty="0" err="1">
                          <a:solidFill>
                            <a:srgbClr val="475569"/>
                          </a:solidFill>
                          <a:latin typeface="Arial"/>
                        </a:rPr>
                        <a:t>quan</a:t>
                      </a:r>
                      <a:r>
                        <a:rPr sz="880" dirty="0">
                          <a:solidFill>
                            <a:srgbClr val="475569"/>
                          </a:solidFill>
                          <a:latin typeface="Arial"/>
                        </a:rPr>
                        <a:t> </a:t>
                      </a:r>
                      <a:r>
                        <a:rPr sz="880" dirty="0" err="1">
                          <a:solidFill>
                            <a:srgbClr val="475569"/>
                          </a:solidFill>
                          <a:latin typeface="Arial"/>
                        </a:rPr>
                        <a:t>trọng</a:t>
                      </a:r>
                      <a:r>
                        <a:rPr sz="880" dirty="0">
                          <a:solidFill>
                            <a:srgbClr val="475569"/>
                          </a:solidFill>
                          <a:latin typeface="Arial"/>
                        </a:rPr>
                        <a:t> </a:t>
                      </a:r>
                      <a:r>
                        <a:rPr sz="880" dirty="0" err="1">
                          <a:solidFill>
                            <a:srgbClr val="475569"/>
                          </a:solidFill>
                          <a:latin typeface="Arial"/>
                        </a:rPr>
                        <a:t>cho</a:t>
                      </a:r>
                      <a:r>
                        <a:rPr sz="880" dirty="0">
                          <a:solidFill>
                            <a:srgbClr val="475569"/>
                          </a:solidFill>
                          <a:latin typeface="Arial"/>
                        </a:rPr>
                        <a:t> </a:t>
                      </a:r>
                      <a:r>
                        <a:rPr sz="880" dirty="0" err="1">
                          <a:solidFill>
                            <a:srgbClr val="475569"/>
                          </a:solidFill>
                          <a:latin typeface="Arial"/>
                        </a:rPr>
                        <a:t>gợi</a:t>
                      </a:r>
                      <a:r>
                        <a:rPr sz="880" dirty="0">
                          <a:solidFill>
                            <a:srgbClr val="475569"/>
                          </a:solidFill>
                          <a:latin typeface="Arial"/>
                        </a:rPr>
                        <a:t> 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109960" y="6446520"/>
            <a:ext cx="594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 dirty="0" err="1">
                <a:solidFill>
                  <a:srgbClr val="111827"/>
                </a:solidFill>
                <a:latin typeface="Arial"/>
              </a:rPr>
              <a:t>Tiền</a:t>
            </a:r>
            <a:r>
              <a:rPr sz="2600" b="1" dirty="0">
                <a:solidFill>
                  <a:srgbClr val="111827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111827"/>
                </a:solidFill>
                <a:latin typeface="Arial"/>
              </a:rPr>
              <a:t>Xử</a:t>
            </a:r>
            <a:r>
              <a:rPr sz="2600" b="1" dirty="0">
                <a:solidFill>
                  <a:srgbClr val="111827"/>
                </a:solidFill>
                <a:latin typeface="Arial"/>
              </a:rPr>
              <a:t> Lý </a:t>
            </a:r>
            <a:r>
              <a:rPr sz="2600" b="1" dirty="0" err="1">
                <a:solidFill>
                  <a:srgbClr val="111827"/>
                </a:solidFill>
                <a:latin typeface="Arial"/>
              </a:rPr>
              <a:t>Dữ</a:t>
            </a:r>
            <a:r>
              <a:rPr sz="2600" b="1" dirty="0">
                <a:solidFill>
                  <a:srgbClr val="111827"/>
                </a:solidFill>
                <a:latin typeface="Arial"/>
              </a:rPr>
              <a:t>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4300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8138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100" b="0" dirty="0">
              <a:solidFill>
                <a:srgbClr val="64748B"/>
              </a:solidFill>
              <a:latin typeface="Arial"/>
            </a:endParaRPr>
          </a:p>
        </p:txBody>
      </p:sp>
      <p:pic>
        <p:nvPicPr>
          <p:cNvPr id="5" name="Picture 4" descr="image_04_rI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597" y="998140"/>
            <a:ext cx="7411576" cy="1965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20691" y="1024128"/>
            <a:ext cx="7411576" cy="1965960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54864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40">
                <a:solidFill>
                  <a:srgbClr val="475569"/>
                </a:solidFill>
                <a:latin typeface="Arial"/>
              </a:rPr>
              <a:t>Đọc toàn bộ dữ liệu thô từ các nguồn đã tải về.</a:t>
            </a:r>
          </a:p>
          <a:p>
            <a:pPr>
              <a:spcAft>
                <a:spcPts val="200"/>
              </a:spcAft>
            </a:pPr>
            <a:r>
              <a:rPr sz="1340">
                <a:solidFill>
                  <a:srgbClr val="475569"/>
                </a:solidFill>
                <a:latin typeface="Arial"/>
              </a:rPr>
              <a:t>Loại bỏ phim trùng trong từng nguồn; gộp nhiều nguồn theo tên phim.</a:t>
            </a:r>
          </a:p>
          <a:p>
            <a:pPr>
              <a:spcAft>
                <a:spcPts val="200"/>
              </a:spcAft>
            </a:pPr>
            <a:r>
              <a:rPr sz="1340">
                <a:solidFill>
                  <a:srgbClr val="475569"/>
                </a:solidFill>
                <a:latin typeface="Arial"/>
              </a:rPr>
              <a:t>Xử lý giá trị thiếu bằng giá trị mặc định phù hợp.</a:t>
            </a:r>
          </a:p>
          <a:p>
            <a:pPr>
              <a:spcAft>
                <a:spcPts val="200"/>
              </a:spcAft>
            </a:pPr>
            <a:r>
              <a:rPr sz="1340">
                <a:solidFill>
                  <a:srgbClr val="475569"/>
                </a:solidFill>
                <a:latin typeface="Arial"/>
              </a:rPr>
              <a:t>Gộp Genre, Second_Genre, Third_Genre thành Genres.</a:t>
            </a:r>
          </a:p>
          <a:p>
            <a:pPr>
              <a:spcAft>
                <a:spcPts val="200"/>
              </a:spcAft>
            </a:pPr>
            <a:r>
              <a:rPr sz="1340">
                <a:solidFill>
                  <a:srgbClr val="475569"/>
                </a:solidFill>
                <a:latin typeface="Arial"/>
              </a:rPr>
              <a:t>Chuẩn hóa Star Cast bằng regex để danh sách diễn viên nhất quán.</a:t>
            </a:r>
          </a:p>
          <a:p>
            <a:pPr>
              <a:spcAft>
                <a:spcPts val="200"/>
              </a:spcAft>
            </a:pPr>
            <a:r>
              <a:rPr sz="1340">
                <a:solidFill>
                  <a:srgbClr val="475569"/>
                </a:solidFill>
                <a:latin typeface="Arial"/>
              </a:rPr>
              <a:t>Sinh mô tả phim và gắn structured metadata cho từng chunk.</a:t>
            </a:r>
          </a:p>
        </p:txBody>
      </p:sp>
      <p:pic>
        <p:nvPicPr>
          <p:cNvPr id="8" name="Picture 7" descr="image_03_rId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444400"/>
            <a:ext cx="4983480" cy="12493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37960" y="3444400"/>
            <a:ext cx="4983480" cy="1249359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37960" y="5257800"/>
            <a:ext cx="49834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7960" y="5257800"/>
            <a:ext cx="64008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2552" y="5257800"/>
            <a:ext cx="4690872" cy="63093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sz="1300" b="1" dirty="0" err="1">
                <a:solidFill>
                  <a:srgbClr val="111827"/>
                </a:solidFill>
                <a:latin typeface="Arial"/>
              </a:rPr>
              <a:t>Kết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11827"/>
                </a:solidFill>
                <a:latin typeface="Arial"/>
              </a:rPr>
              <a:t>quả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11827"/>
                </a:solidFill>
                <a:latin typeface="Arial"/>
              </a:rPr>
              <a:t>tiền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11827"/>
                </a:solidFill>
                <a:latin typeface="Arial"/>
              </a:rPr>
              <a:t>xử</a:t>
            </a:r>
            <a:r>
              <a:rPr sz="1300" b="1" dirty="0">
                <a:solidFill>
                  <a:srgbClr val="111827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111827"/>
                </a:solidFill>
                <a:latin typeface="Arial"/>
              </a:rPr>
              <a:t>lý</a:t>
            </a:r>
            <a:endParaRPr sz="1300" b="1" dirty="0">
              <a:solidFill>
                <a:srgbClr val="111827"/>
              </a:solidFill>
              <a:latin typeface="Arial"/>
            </a:endParaRPr>
          </a:p>
          <a:p>
            <a:pPr>
              <a:spcBef>
                <a:spcPts val="500"/>
              </a:spcBef>
            </a:pPr>
            <a:r>
              <a:rPr sz="1050" dirty="0" err="1">
                <a:solidFill>
                  <a:srgbClr val="475569"/>
                </a:solidFill>
                <a:latin typeface="Arial"/>
              </a:rPr>
              <a:t>Dữ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liệu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có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cấu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trúc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thống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nhất</a:t>
            </a:r>
            <a:r>
              <a:rPr sz="1050" dirty="0">
                <a:solidFill>
                  <a:srgbClr val="475569"/>
                </a:solidFill>
                <a:latin typeface="Arial"/>
              </a:rPr>
              <a:t>,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không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còn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giá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trị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thiếu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trong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các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trường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cần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dùng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và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sẵn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sàng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cho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sinh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mô</a:t>
            </a:r>
            <a:r>
              <a:rPr sz="1050" dirty="0">
                <a:solidFill>
                  <a:srgbClr val="475569"/>
                </a:solidFill>
                <a:latin typeface="Arial"/>
              </a:rPr>
              <a:t>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tả</a:t>
            </a:r>
            <a:r>
              <a:rPr sz="1050" dirty="0">
                <a:solidFill>
                  <a:srgbClr val="475569"/>
                </a:solidFill>
                <a:latin typeface="Arial"/>
              </a:rPr>
              <a:t>, chunking, embedding.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46520"/>
            <a:ext cx="594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Thống Kê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4300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8138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100" b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874519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64008" cy="7863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225295"/>
            <a:ext cx="1581911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111827"/>
                </a:solidFill>
                <a:latin typeface="Arial"/>
              </a:rPr>
              <a:t>3.656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75569"/>
                </a:solidFill>
                <a:latin typeface="Arial"/>
              </a:rPr>
              <a:t>bản ghi hợp lệ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097280"/>
            <a:ext cx="1874519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97480" y="1097280"/>
            <a:ext cx="64008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1225295"/>
            <a:ext cx="1581911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111827"/>
                </a:solidFill>
                <a:latin typeface="Arial"/>
              </a:rPr>
              <a:t>6,76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75569"/>
                </a:solidFill>
                <a:latin typeface="Arial"/>
              </a:rPr>
              <a:t>IMDb Rating trung bình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097280"/>
            <a:ext cx="1874519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1097280"/>
            <a:ext cx="64008" cy="7863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65192" y="1225295"/>
            <a:ext cx="1581911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111827"/>
                </a:solidFill>
                <a:latin typeface="Arial"/>
              </a:rPr>
              <a:t>1917-2025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75569"/>
                </a:solidFill>
                <a:latin typeface="Arial"/>
              </a:rPr>
              <a:t>khoảng năm phát hành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097280"/>
            <a:ext cx="1874519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03720" y="1097280"/>
            <a:ext cx="64008" cy="7863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68312" y="1225295"/>
            <a:ext cx="1581911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111827"/>
                </a:solidFill>
                <a:latin typeface="Arial"/>
              </a:rPr>
              <a:t>46-317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75569"/>
                </a:solidFill>
                <a:latin typeface="Arial"/>
              </a:rPr>
              <a:t>khoảng thời lượng phút</a:t>
            </a:r>
          </a:p>
        </p:txBody>
      </p:sp>
      <p:pic>
        <p:nvPicPr>
          <p:cNvPr id="17" name="Picture 16" descr="image_05_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12848"/>
            <a:ext cx="5349240" cy="320954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85800" y="2212848"/>
            <a:ext cx="5349240" cy="3209544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_06_rId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480310"/>
            <a:ext cx="5349240" cy="26746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63640" y="2480310"/>
            <a:ext cx="5349240" cy="2674620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742432"/>
            <a:ext cx="5029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Top 10 thể loại xuất hiện nhiều nhất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742432"/>
            <a:ext cx="5029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Số lượng phim theo năm phát hành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46520"/>
            <a:ext cx="594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Sinh Mô Tả Và Chunking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4300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8138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100" b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3657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6400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051560"/>
            <a:ext cx="3364992" cy="104241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sz="1500" b="1" dirty="0">
                <a:solidFill>
                  <a:srgbClr val="111827"/>
                </a:solidFill>
                <a:latin typeface="Arial"/>
              </a:rPr>
              <a:t>Sinh </a:t>
            </a:r>
            <a:r>
              <a:rPr sz="1500" b="1" dirty="0" err="1">
                <a:solidFill>
                  <a:srgbClr val="111827"/>
                </a:solidFill>
                <a:latin typeface="Arial"/>
              </a:rPr>
              <a:t>mô</a:t>
            </a:r>
            <a:r>
              <a:rPr sz="1500" b="1" dirty="0">
                <a:solidFill>
                  <a:srgbClr val="111827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</a:rPr>
              <a:t>tả</a:t>
            </a:r>
            <a:endParaRPr sz="1500" b="1" dirty="0">
              <a:solidFill>
                <a:srgbClr val="111827"/>
              </a:solidFill>
              <a:latin typeface="Arial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dirty="0" err="1">
                <a:solidFill>
                  <a:srgbClr val="475569"/>
                </a:solidFill>
                <a:latin typeface="Arial"/>
              </a:rPr>
              <a:t>Mỗi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bản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ghi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phim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được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chuyển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thành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đoạn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mô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tả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tự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nhiên</a:t>
            </a:r>
            <a:r>
              <a:rPr sz="1100" dirty="0">
                <a:solidFill>
                  <a:srgbClr val="475569"/>
                </a:solidFill>
                <a:latin typeface="Arial"/>
              </a:rPr>
              <a:t>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dirty="0">
                <a:solidFill>
                  <a:srgbClr val="475569"/>
                </a:solidFill>
                <a:latin typeface="Arial"/>
              </a:rPr>
              <a:t>Thông tin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gồm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tên</a:t>
            </a:r>
            <a:r>
              <a:rPr sz="1100" dirty="0">
                <a:solidFill>
                  <a:srgbClr val="475569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thể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loại</a:t>
            </a:r>
            <a:r>
              <a:rPr sz="1100" dirty="0">
                <a:solidFill>
                  <a:srgbClr val="475569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đạo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diễn</a:t>
            </a:r>
            <a:r>
              <a:rPr sz="1100" dirty="0">
                <a:solidFill>
                  <a:srgbClr val="475569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diễn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viên</a:t>
            </a:r>
            <a:r>
              <a:rPr sz="1100" dirty="0">
                <a:solidFill>
                  <a:srgbClr val="475569"/>
                </a:solidFill>
                <a:latin typeface="Arial"/>
              </a:rPr>
              <a:t>,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năm</a:t>
            </a:r>
            <a:r>
              <a:rPr sz="1100" dirty="0">
                <a:solidFill>
                  <a:srgbClr val="475569"/>
                </a:solidFill>
                <a:latin typeface="Arial"/>
              </a:rPr>
              <a:t>, IMDb Rating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và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thời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lượng</a:t>
            </a:r>
            <a:r>
              <a:rPr sz="1100" dirty="0">
                <a:solidFill>
                  <a:srgbClr val="475569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51560"/>
            <a:ext cx="29718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26280" y="1051560"/>
            <a:ext cx="6400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051560"/>
            <a:ext cx="2679192" cy="10424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 dirty="0" err="1">
                <a:solidFill>
                  <a:srgbClr val="111827"/>
                </a:solidFill>
                <a:latin typeface="Arial"/>
              </a:rPr>
              <a:t>Chiến</a:t>
            </a:r>
            <a:r>
              <a:rPr sz="1500" b="1" dirty="0">
                <a:solidFill>
                  <a:srgbClr val="111827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11827"/>
                </a:solidFill>
                <a:latin typeface="Arial"/>
              </a:rPr>
              <a:t>lược</a:t>
            </a:r>
            <a:r>
              <a:rPr sz="1500" b="1" dirty="0">
                <a:solidFill>
                  <a:srgbClr val="111827"/>
                </a:solidFill>
                <a:latin typeface="Arial"/>
              </a:rPr>
              <a:t> chunking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dirty="0" err="1">
                <a:solidFill>
                  <a:srgbClr val="475569"/>
                </a:solidFill>
                <a:latin typeface="Arial"/>
              </a:rPr>
              <a:t>Một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phim</a:t>
            </a:r>
            <a:r>
              <a:rPr sz="1100" dirty="0">
                <a:solidFill>
                  <a:srgbClr val="475569"/>
                </a:solidFill>
                <a:latin typeface="Arial"/>
              </a:rPr>
              <a:t> =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một</a:t>
            </a:r>
            <a:r>
              <a:rPr sz="1100" dirty="0">
                <a:solidFill>
                  <a:srgbClr val="475569"/>
                </a:solidFill>
                <a:latin typeface="Arial"/>
              </a:rPr>
              <a:t> chunk.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dirty="0" err="1">
                <a:solidFill>
                  <a:srgbClr val="475569"/>
                </a:solidFill>
                <a:latin typeface="Arial"/>
              </a:rPr>
              <a:t>Không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dùng</a:t>
            </a:r>
            <a:r>
              <a:rPr sz="1100" dirty="0">
                <a:solidFill>
                  <a:srgbClr val="475569"/>
                </a:solidFill>
                <a:latin typeface="Arial"/>
              </a:rPr>
              <a:t> overlap do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mặc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định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không</a:t>
            </a:r>
            <a:r>
              <a:rPr sz="1100" dirty="0">
                <a:solidFill>
                  <a:srgbClr val="475569"/>
                </a:solidFill>
                <a:latin typeface="Arial"/>
              </a:rPr>
              <a:t> chia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nhỏ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mô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tả</a:t>
            </a:r>
            <a:r>
              <a:rPr sz="1100" dirty="0">
                <a:solidFill>
                  <a:srgbClr val="475569"/>
                </a:solidFill>
                <a:latin typeface="Arial"/>
              </a:rPr>
              <a:t> </a:t>
            </a:r>
            <a:r>
              <a:rPr sz="1100" dirty="0" err="1">
                <a:solidFill>
                  <a:srgbClr val="475569"/>
                </a:solidFill>
                <a:latin typeface="Arial"/>
              </a:rPr>
              <a:t>phim</a:t>
            </a:r>
            <a:r>
              <a:rPr sz="1100" dirty="0">
                <a:solidFill>
                  <a:srgbClr val="475569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051560"/>
            <a:ext cx="36118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6679" y="1051560"/>
            <a:ext cx="64008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91271" y="1051560"/>
            <a:ext cx="3319272" cy="10424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 dirty="0">
                <a:solidFill>
                  <a:srgbClr val="111827"/>
                </a:solidFill>
                <a:latin typeface="Arial"/>
              </a:rPr>
              <a:t>Metadata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 dirty="0">
                <a:solidFill>
                  <a:srgbClr val="475569"/>
                </a:solidFill>
                <a:latin typeface="Arial"/>
              </a:rPr>
              <a:t>Title, IMDb Rating, Year, Certificates, Director, Star Cast, </a:t>
            </a:r>
            <a:r>
              <a:rPr sz="1050" dirty="0" err="1">
                <a:solidFill>
                  <a:srgbClr val="475569"/>
                </a:solidFill>
                <a:latin typeface="Arial"/>
              </a:rPr>
              <a:t>MetaScore</a:t>
            </a:r>
            <a:r>
              <a:rPr sz="1050" dirty="0">
                <a:solidFill>
                  <a:srgbClr val="475569"/>
                </a:solidFill>
                <a:latin typeface="Arial"/>
              </a:rPr>
              <a:t>, Duration, Genres, Genre 1-3, Actor 1-5.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2606040"/>
          <a:ext cx="56692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27"/>
                          </a:solidFill>
                          <a:latin typeface="Arial"/>
                        </a:rPr>
                        <a:t>Chỉ số</a:t>
                      </a:r>
                    </a:p>
                  </a:txBody>
                  <a:tcPr>
                    <a:solidFill>
                      <a:srgbClr val="E5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27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>
                    <a:solidFill>
                      <a:srgbClr val="E5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Arial"/>
                        </a:rPr>
                        <a:t>Tổng số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Arial"/>
                        </a:rPr>
                        <a:t>3.656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Arial"/>
                        </a:rPr>
                        <a:t>Số phim duy nhất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Arial"/>
                        </a:rPr>
                        <a:t>3.656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Arial"/>
                        </a:rPr>
                        <a:t>Độ dài trung bình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Arial"/>
                        </a:rPr>
                        <a:t>232,57 ký tự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Arial"/>
                        </a:rPr>
                        <a:t>Độ dài trung vị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Arial"/>
                        </a:rPr>
                        <a:t>192 ký tự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Arial"/>
                        </a:rPr>
                        <a:t>Khoảng độ dài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Arial"/>
                        </a:rPr>
                        <a:t>182 / 344 ký tự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Arial"/>
                        </a:rPr>
                        <a:t>Tỷ lệ Chunk/Phim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475569"/>
                          </a:solidFill>
                          <a:latin typeface="Arial"/>
                        </a:rPr>
                        <a:t>1,00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629400" y="2606040"/>
            <a:ext cx="47091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29400" y="260604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93992" y="2734056"/>
            <a:ext cx="4416552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Ví dụ mô tả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475569"/>
                </a:solidFill>
                <a:latin typeface="Arial"/>
              </a:rPr>
              <a:t>The Dark Knight is a Action, Crime, Drama movie directed by Christopher Nolan, starring Christian Bale, Heath Ledger, Aaron Eckhart. Released in 2008, it has an IMDb rating of 9.0 and a runtime of 152 minutes.</a:t>
            </a:r>
          </a:p>
        </p:txBody>
      </p:sp>
      <p:pic>
        <p:nvPicPr>
          <p:cNvPr id="18" name="Picture 17" descr="image_07_rId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080" y="4270248"/>
            <a:ext cx="2209800" cy="13258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879080" y="4224528"/>
            <a:ext cx="2209800" cy="1325880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5650992"/>
            <a:ext cx="4343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Phân bố thời lượng phim sau xử lý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594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Embedding Và Vector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4300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8138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100" b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33832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64008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179576"/>
            <a:ext cx="309067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Embedding model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475569"/>
                </a:solidFill>
                <a:latin typeface="Arial"/>
              </a:rPr>
              <a:t>sentence-transformers/all-mpnet-base-v2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475569"/>
                </a:solidFill>
                <a:latin typeface="Arial"/>
              </a:rPr>
              <a:t>Mã hóa mô tả phim và truy vấn vào cùng không gian ngữ nghĩa.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475569"/>
                </a:solidFill>
                <a:latin typeface="Arial"/>
              </a:rPr>
              <a:t>Vector embedding 768 chiều.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51560"/>
            <a:ext cx="32004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06240" y="105156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1" y="1179576"/>
            <a:ext cx="29077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ChromaDB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475569"/>
                </a:solidFill>
                <a:latin typeface="Arial"/>
              </a:rPr>
              <a:t>Persistent vector database.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475569"/>
                </a:solidFill>
                <a:latin typeface="Arial"/>
              </a:rPr>
              <a:t>Lưu document, embedding, metadata và id.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475569"/>
                </a:solidFill>
                <a:latin typeface="Arial"/>
              </a:rPr>
              <a:t>Dùng cosine space để tìm kiếm tương đồng.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051560"/>
            <a:ext cx="3474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89520" y="1051560"/>
            <a:ext cx="64008" cy="1234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54112" y="1179576"/>
            <a:ext cx="318211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Truy xuất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30">
                <a:solidFill>
                  <a:srgbClr val="475569"/>
                </a:solidFill>
                <a:latin typeface="Arial"/>
              </a:rPr>
              <a:t>Có thể chạy kèm where filter theo metadata.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30">
                <a:solidFill>
                  <a:srgbClr val="475569"/>
                </a:solidFill>
                <a:latin typeface="Arial"/>
              </a:rPr>
              <a:t>Nếu filter không trả kết quả, hệ thống fallback sang vector search thường.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30">
                <a:solidFill>
                  <a:srgbClr val="475569"/>
                </a:solidFill>
                <a:latin typeface="Arial"/>
              </a:rPr>
              <a:t>Sau truy xuất dùng cross-encoder reranker.</a:t>
            </a:r>
          </a:p>
        </p:txBody>
      </p:sp>
      <p:pic>
        <p:nvPicPr>
          <p:cNvPr id="14" name="Picture 13" descr="image_10_rId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58834"/>
            <a:ext cx="3017520" cy="29862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77240" y="2758834"/>
            <a:ext cx="3017520" cy="2986250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_11_rId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619" y="2606040"/>
            <a:ext cx="2037601" cy="32918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627619" y="2606040"/>
            <a:ext cx="2037601" cy="3291840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_12_rId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104" y="2720340"/>
            <a:ext cx="3676128" cy="295351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470648" y="2606040"/>
            <a:ext cx="3749040" cy="3067812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594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Pipeline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4300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8138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100" b="0" dirty="0">
              <a:solidFill>
                <a:srgbClr val="64748B"/>
              </a:solidFill>
              <a:latin typeface="Arial"/>
            </a:endParaRPr>
          </a:p>
        </p:txBody>
      </p:sp>
      <p:pic>
        <p:nvPicPr>
          <p:cNvPr id="5" name="Picture 4" descr="image_09_rId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21" y="1051560"/>
            <a:ext cx="4245957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4521" y="1051560"/>
            <a:ext cx="4245957" cy="2743200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_14_rId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058" y="960120"/>
            <a:ext cx="5389442" cy="29077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32058" y="960120"/>
            <a:ext cx="5389442" cy="2907792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4251960"/>
            <a:ext cx="329184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4251960"/>
            <a:ext cx="64008" cy="1207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4379976"/>
            <a:ext cx="2999232" cy="10241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Indexing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475569"/>
                </a:solidFill>
                <a:latin typeface="Arial"/>
              </a:rPr>
              <a:t>Mô tả phim → chunk theo phim → embedding bằng all-mpnet-base-v2 → lưu vào ChromaDB cùng metadata.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251960"/>
            <a:ext cx="329184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4251960"/>
            <a:ext cx="64008" cy="1207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4379976"/>
            <a:ext cx="2999232" cy="10241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Retrieval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475569"/>
                </a:solidFill>
                <a:latin typeface="Arial"/>
              </a:rPr>
              <a:t>Truy vấn → semantic_query + metadata_filter → filtered vector search → fallback nếu cần → reranking.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51960"/>
            <a:ext cx="329184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4251960"/>
            <a:ext cx="64008" cy="1207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5592" y="4379976"/>
            <a:ext cx="2999232" cy="10241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Generation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475569"/>
                </a:solidFill>
                <a:latin typeface="Arial"/>
              </a:rPr>
              <a:t>Top-k movie chunks được ghép thành context; Qwen 2.5 7B Instruct sinh gợi ý và lý do dựa trên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594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Sinh Câu Trả Lời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4300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8138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100" b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37033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64008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271016"/>
            <a:ext cx="341071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Mô hình sinh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Qwen 2.5 7B Instruct.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Chạy cục bộ qua LM Studio.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Endpoint OpenAI-compatible: http://localhost:1234/v1.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143000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14300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271016"/>
            <a:ext cx="304495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Prompt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Gồm vai trò mô hình, câu hỏi người dùng và context truy xuất.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Yêu cầu trả lời ngắn gọn bằng tiếng Anh.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43000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143000"/>
            <a:ext cx="64008" cy="1234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1" y="1271016"/>
            <a:ext cx="304495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Tham số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temperature kiểm soát độ ngẫu nhiên.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max_tokens giới hạn độ dài phản hồi.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16352"/>
            <a:ext cx="521208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816352"/>
            <a:ext cx="64008" cy="2240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944368"/>
            <a:ext cx="4919472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Kiểm soát hallucination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Prompt yêu cầu chỉ sử dụng thông tin trong context được cung cấp.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Nếu context chưa đủ, mô hình cần nêu rõ phần còn thiếu và đưa ra gợi ý gần nhất.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Context gồm các mô tả phim cụ thể đã truy xuất từ ChromaDB.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Temperature thấp được dùng để giảm độ ngẫu nhiên và tăng tính ổn định.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16352"/>
            <a:ext cx="516636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816352"/>
            <a:ext cx="64008" cy="2240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1" y="2944368"/>
            <a:ext cx="4873752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Đầu ra kỳ vọng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Danh sách phim được đề xuất.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Lý do vì sao mỗi phim phù hợp với truy vấn.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>
                <a:solidFill>
                  <a:srgbClr val="475569"/>
                </a:solidFill>
                <a:latin typeface="Arial"/>
              </a:rPr>
              <a:t>Thông tin dựa trên movie chunks đã truy xuất, không dựa vào dữ liệu ngoài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46520"/>
            <a:ext cx="594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Kết Quả Đánh Giá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4300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8138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100" b="0" dirty="0">
              <a:solidFill>
                <a:srgbClr val="64748B"/>
              </a:solidFill>
              <a:latin typeface="Arial"/>
            </a:endParaRPr>
          </a:p>
        </p:txBody>
      </p:sp>
      <p:pic>
        <p:nvPicPr>
          <p:cNvPr id="5" name="Picture 4" descr="image_16_rId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883282"/>
            <a:ext cx="5577840" cy="36741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883282"/>
            <a:ext cx="5577840" cy="3674115"/>
          </a:xfrm>
          <a:prstGeom prst="rect">
            <a:avLst/>
          </a:prstGeom>
          <a:noFill/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1874519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64008" cy="7863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225295"/>
            <a:ext cx="1581911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111827"/>
                </a:solidFill>
                <a:latin typeface="Arial"/>
              </a:rPr>
              <a:t>83,8%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75569"/>
                </a:solidFill>
                <a:latin typeface="Arial"/>
              </a:rPr>
              <a:t>RAG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097280"/>
            <a:ext cx="1874519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88920" y="1097280"/>
            <a:ext cx="64008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53512" y="1225295"/>
            <a:ext cx="1581911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111827"/>
                </a:solidFill>
                <a:latin typeface="Arial"/>
              </a:rPr>
              <a:t>64,3%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75569"/>
                </a:solidFill>
                <a:latin typeface="Arial"/>
              </a:rPr>
              <a:t>pass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48840"/>
            <a:ext cx="1874519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148840"/>
            <a:ext cx="64008" cy="7863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276856"/>
            <a:ext cx="1581911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111827"/>
                </a:solidFill>
                <a:latin typeface="Arial"/>
              </a:rPr>
              <a:t>9 / 14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75569"/>
                </a:solidFill>
                <a:latin typeface="Arial"/>
              </a:rPr>
              <a:t>case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2148840"/>
            <a:ext cx="1874519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88920" y="2148840"/>
            <a:ext cx="64008" cy="7863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53512" y="2276856"/>
            <a:ext cx="1581911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111827"/>
                </a:solidFill>
                <a:latin typeface="Arial"/>
              </a:rPr>
              <a:t>5 / 14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75569"/>
                </a:solidFill>
                <a:latin typeface="Arial"/>
              </a:rPr>
              <a:t>case fail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00400"/>
            <a:ext cx="1874519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200400"/>
            <a:ext cx="64008" cy="7863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3328416"/>
            <a:ext cx="1581911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111827"/>
                </a:solidFill>
                <a:latin typeface="Arial"/>
              </a:rPr>
              <a:t>85,7%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75569"/>
                </a:solidFill>
                <a:latin typeface="Arial"/>
              </a:rPr>
              <a:t>retrieval hit/top1/MRR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200400"/>
            <a:ext cx="1874519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88920" y="3200400"/>
            <a:ext cx="64008" cy="7863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53512" y="3328416"/>
            <a:ext cx="1581911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111827"/>
                </a:solidFill>
                <a:latin typeface="Arial"/>
              </a:rPr>
              <a:t>21,4%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475569"/>
                </a:solidFill>
                <a:latin typeface="Arial"/>
              </a:rPr>
              <a:t>hallucination_rate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617720"/>
            <a:ext cx="48463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617720"/>
            <a:ext cx="64008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557397"/>
            <a:ext cx="4553712" cy="1057019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Nhận xét chính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69">
                <a:solidFill>
                  <a:srgbClr val="475569"/>
                </a:solidFill>
                <a:latin typeface="Arial"/>
              </a:rPr>
              <a:t>Context retrieval nhìn chung phù hợp: mean_context_precision 82,9%, mean_context_recall 78,6%.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69">
                <a:solidFill>
                  <a:srgbClr val="475569"/>
                </a:solidFill>
                <a:latin typeface="Arial"/>
              </a:rPr>
              <a:t>Generation đạt faithfulness 90%; accuracy và answer_relevance khoảng 84,3%; context_relevance 82,9%.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69">
                <a:solidFill>
                  <a:srgbClr val="475569"/>
                </a:solidFill>
                <a:latin typeface="Arial"/>
              </a:rPr>
              <a:t>wrong_context_rate 7,1%, lỗi chính nằm ở kiểm soát hallucination.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46520"/>
            <a:ext cx="594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Demo Chương Trình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4300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1" y="932688"/>
            <a:ext cx="8138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sz="1100" b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594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36457D6-6302-8565-BD8F-3B501A534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089816"/>
            <a:ext cx="10521045" cy="5100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1116</Words>
  <Application>Microsoft Office PowerPoint</Application>
  <PresentationFormat>Widescreen</PresentationFormat>
  <Paragraphs>172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Tôn Thất Bảo Văn</cp:lastModifiedBy>
  <cp:revision>4</cp:revision>
  <dcterms:created xsi:type="dcterms:W3CDTF">2013-01-27T09:14:16Z</dcterms:created>
  <dcterms:modified xsi:type="dcterms:W3CDTF">2026-05-15T03:08:57Z</dcterms:modified>
  <cp:category/>
</cp:coreProperties>
</file>